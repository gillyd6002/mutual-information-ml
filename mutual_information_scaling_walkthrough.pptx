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160520"/>
            <a:ext cx="12191695" cy="45720"/>
          </a:xfrm>
          <a:prstGeom prst="rect">
            <a:avLst/>
          </a:prstGeom>
          <a:solidFill>
            <a:srgbClr val="E0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3172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Mutual Information Scaling via</a:t>
            </a:r>
          </a:p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Neural Density-Ratio Estimation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3434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0">
                <a:solidFill>
                  <a:srgbClr val="C7CFDE"/>
                </a:solidFill>
                <a:latin typeface="Calibri"/>
              </a:rPr>
              <a:t>A step-by-step walkthrough of the original codebase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8006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1F8A8C"/>
                </a:solidFill>
                <a:latin typeface="Calibri"/>
              </a:rPr>
              <a:t>Convy, Huggins, Liu &amp; Whaley - “Mutual Information Scaling for Tensor Network Machine Learning” (2022)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8A8C"/>
                </a:solidFill>
                <a:latin typeface="Calibri"/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4A"/>
                </a:solidFill>
                <a:latin typeface="Calibri"/>
              </a:rPr>
              <a:t>Why estimate mutual information at all?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005840" cy="38100"/>
          </a:xfrm>
          <a:prstGeom prst="rect">
            <a:avLst/>
          </a:prstGeom>
          <a:solidFill>
            <a:srgbClr val="E0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88136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900" b="0">
                <a:solidFill>
                  <a:srgbClr val="222833"/>
                </a:solidFill>
                <a:latin typeface="Calibri"/>
              </a:rPr>
              <a:t>▸  Tensor networks (MPS, PEPS, tree networks, …) are used as machine-learning models, borrowed from quantum many-body physics.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900" b="0">
                <a:solidFill>
                  <a:srgbClr val="222833"/>
                </a:solidFill>
                <a:latin typeface="Calibri"/>
              </a:rPr>
              <a:t>▸  Which network geometry works best for a dataset depends on that dataset’s correlation structure.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900" b="0">
                <a:solidFill>
                  <a:srgbClr val="222833"/>
                </a:solidFill>
                <a:latin typeface="Calibri"/>
              </a:rPr>
              <a:t>▸  In quantum physics, this is answered by entanglement entropy scaling laws: area law data → an MPS/PEPS-style network suffices; volume law data needs something richer.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900" b="0">
                <a:solidFill>
                  <a:srgbClr val="222833"/>
                </a:solidFill>
                <a:latin typeface="Calibri"/>
              </a:rPr>
              <a:t>▸  The classical analog of entanglement entropy is mutual information (MI) between subsets of data features.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900" b="1">
                <a:solidFill>
                  <a:srgbClr val="222833"/>
                </a:solidFill>
                <a:latin typeface="Calibri"/>
              </a:rPr>
              <a:t>▸  Goal of this codebase: measure how MI scales with partition size in real image datasets, to see which scaling law they actually follow — and what that implies for network design.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3A3"/>
                </a:solidFill>
                <a:latin typeface="Calibri"/>
              </a:rPr>
              <a:t>Motivation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65392"/>
            <a:ext cx="731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3A3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8A8C"/>
                </a:solidFill>
                <a:latin typeface="Calibri"/>
              </a:rPr>
              <a:t>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4A"/>
                </a:solidFill>
                <a:latin typeface="Calibri"/>
              </a:rPr>
              <a:t>What is mutual information?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005840" cy="38100"/>
          </a:xfrm>
          <a:prstGeom prst="rect">
            <a:avLst/>
          </a:prstGeom>
          <a:solidFill>
            <a:srgbClr val="E0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694944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900" b="1">
                <a:solidFill>
                  <a:srgbClr val="222833"/>
                </a:solidFill>
                <a:latin typeface="Calibri"/>
              </a:rPr>
              <a:t>▸  MI(a, b) = S(a) + S(b) − S(a, b)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700" b="0">
                <a:solidFill>
                  <a:srgbClr val="8A93A3"/>
                </a:solidFill>
                <a:latin typeface="Calibri"/>
              </a:rPr>
              <a:t>     –  S is Shannon entropy — MI is “how much does knowing a tell you about b”.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900" b="0">
                <a:solidFill>
                  <a:srgbClr val="222833"/>
                </a:solidFill>
                <a:latin typeface="Calibri"/>
              </a:rPr>
              <a:t>▸  A generalization of correlation to non-linear, non-Gaussian relationships.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900" b="0">
                <a:solidFill>
                  <a:srgbClr val="222833"/>
                </a:solidFill>
                <a:latin typeface="Calibri"/>
              </a:rPr>
              <a:t>▸  MI = 0 if and only if a and b are truly independent.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900" b="1">
                <a:solidFill>
                  <a:srgbClr val="222833"/>
                </a:solidFill>
                <a:latin typeface="Calibri"/>
              </a:rPr>
              <a:t>▸  The problem: computing it exactly requires the full probability distributions p(a), p(b), p(a, b) — and for images, we only ever have samples.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737360"/>
            <a:ext cx="3566160" cy="402336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96596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2A4A"/>
                </a:solidFill>
                <a:latin typeface="Calibri"/>
              </a:rPr>
              <a:t>Intuition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423160"/>
            <a:ext cx="301752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222833"/>
                </a:solidFill>
                <a:latin typeface="Calibri"/>
              </a:rPr>
              <a:t>a = pixels in a</a:t>
            </a:r>
          </a:p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222833"/>
                </a:solidFill>
                <a:latin typeface="Calibri"/>
              </a:rPr>
              <a:t>centered patch</a:t>
            </a:r>
          </a:p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222833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222833"/>
                </a:solidFill>
                <a:latin typeface="Calibri"/>
              </a:rPr>
              <a:t>b = the pixels</a:t>
            </a:r>
          </a:p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222833"/>
                </a:solidFill>
                <a:latin typeface="Calibri"/>
              </a:rPr>
              <a:t>surrounding it</a:t>
            </a:r>
          </a:p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222833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222833"/>
                </a:solidFill>
                <a:latin typeface="Calibri"/>
              </a:rPr>
              <a:t>MI(a,b) large →</a:t>
            </a:r>
          </a:p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222833"/>
                </a:solidFill>
                <a:latin typeface="Calibri"/>
              </a:rPr>
              <a:t>strongly correlated</a:t>
            </a:r>
          </a:p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222833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222833"/>
                </a:solidFill>
                <a:latin typeface="Calibri"/>
              </a:rPr>
              <a:t>MI(a,b) ≈ 0 →</a:t>
            </a:r>
          </a:p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222833"/>
                </a:solidFill>
                <a:latin typeface="Calibri"/>
              </a:rPr>
              <a:t>nearly independent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565392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3A3"/>
                </a:solidFill>
                <a:latin typeface="Calibri"/>
              </a:rPr>
              <a:t>Background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565392"/>
            <a:ext cx="731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3A3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8A8C"/>
                </a:solidFill>
                <a:latin typeface="Calibri"/>
              </a:rP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4A"/>
                </a:solidFill>
                <a:latin typeface="Calibri"/>
              </a:rPr>
              <a:t>You can't just count frequencies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005840" cy="38100"/>
          </a:xfrm>
          <a:prstGeom prst="rect">
            <a:avLst/>
          </a:prstGeom>
          <a:solidFill>
            <a:srgbClr val="E0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8813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2000"/>
              </a:spcAft>
            </a:pPr>
            <a:r>
              <a:rPr sz="1900" b="0">
                <a:solidFill>
                  <a:srgbClr val="222833"/>
                </a:solidFill>
                <a:latin typeface="Calibri"/>
              </a:rPr>
              <a:t>▸  For discrete variables with few possible values: estimate S[p(x)] from observed frequencies directly.</a:t>
            </a:r>
          </a:p>
          <a:p>
            <a:pPr>
              <a:lnSpc>
                <a:spcPct val="112000"/>
              </a:lnSpc>
              <a:spcAft>
                <a:spcPts val="2000"/>
              </a:spcAft>
            </a:pPr>
            <a:r>
              <a:rPr sz="1900" b="0">
                <a:solidFill>
                  <a:srgbClr val="222833"/>
                </a:solidFill>
                <a:latin typeface="Calibri"/>
              </a:rPr>
              <a:t>▸  For continuous or high-dimensional variables — like a 10×10 patch of pixels, with millions of possible configurations — frequency counts are hopeless: you would never observe the same configuration twice.</a:t>
            </a:r>
          </a:p>
          <a:p>
            <a:pPr>
              <a:lnSpc>
                <a:spcPct val="112000"/>
              </a:lnSpc>
              <a:spcAft>
                <a:spcPts val="2000"/>
              </a:spcAft>
            </a:pPr>
            <a:r>
              <a:rPr sz="1900" b="1">
                <a:solidFill>
                  <a:srgbClr val="222833"/>
                </a:solidFill>
                <a:latin typeface="Calibri"/>
              </a:rPr>
              <a:t>▸  This is exactly the regime images live in.</a:t>
            </a:r>
          </a:p>
          <a:p>
            <a:pPr>
              <a:lnSpc>
                <a:spcPct val="112000"/>
              </a:lnSpc>
              <a:spcAft>
                <a:spcPts val="2000"/>
              </a:spcAft>
            </a:pPr>
            <a:r>
              <a:rPr sz="1900" b="0">
                <a:solidFill>
                  <a:srgbClr val="222833"/>
                </a:solidFill>
                <a:latin typeface="Calibri"/>
              </a:rPr>
              <a:t>▸  Need an approach that estimates MI directly from samples, without ever building a histogram of p(a, b).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3A3"/>
                </a:solidFill>
                <a:latin typeface="Calibri"/>
              </a:rPr>
              <a:t>The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65392"/>
            <a:ext cx="731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3A3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8A8C"/>
                </a:solidFill>
                <a:latin typeface="Calibri"/>
              </a:rPr>
              <a:t>THE KEY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4A"/>
                </a:solidFill>
                <a:latin typeface="Calibri"/>
              </a:rPr>
              <a:t>Turn MI estimation into classification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005840" cy="38100"/>
          </a:xfrm>
          <a:prstGeom prst="rect">
            <a:avLst/>
          </a:prstGeom>
          <a:solidFill>
            <a:srgbClr val="E0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88136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900" b="1">
                <a:solidFill>
                  <a:srgbClr val="222833"/>
                </a:solidFill>
                <a:latin typeface="Calibri"/>
              </a:rPr>
              <a:t>▸  Train a neural network to distinguish two kinds of samples: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5120640" cy="1371600"/>
          </a:xfrm>
          <a:prstGeom prst="roundRect">
            <a:avLst>
              <a:gd name="adj" fmla="val 8000"/>
            </a:avLst>
          </a:prstGeom>
          <a:solidFill>
            <a:srgbClr val="EAF4F4"/>
          </a:solidFill>
          <a:ln w="15875">
            <a:solidFill>
              <a:srgbClr val="1F8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46888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F8A8C"/>
                </a:solidFill>
                <a:latin typeface="Calibri"/>
              </a:rPr>
              <a:t>“REAL”  (joint)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834640"/>
            <a:ext cx="4663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222833"/>
                </a:solidFill>
                <a:latin typeface="Calibri"/>
              </a:rPr>
              <a:t>An actual, untouched sample drawn from the true joint distribution p(a, b).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331720"/>
            <a:ext cx="5120640" cy="1371600"/>
          </a:xfrm>
          <a:prstGeom prst="roundRect">
            <a:avLst>
              <a:gd name="adj" fmla="val 8000"/>
            </a:avLst>
          </a:prstGeom>
          <a:solidFill>
            <a:srgbClr val="FBEFE2"/>
          </a:solidFill>
          <a:ln w="15875">
            <a:solidFill>
              <a:srgbClr val="E07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46888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07A2C"/>
                </a:solidFill>
                <a:latin typeface="Calibri"/>
              </a:rPr>
              <a:t>“FAKE”  (marginal)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834640"/>
            <a:ext cx="4663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222833"/>
                </a:solidFill>
                <a:latin typeface="Calibri"/>
              </a:rPr>
              <a:t>A sample built to approximate the product-of-marginals p(a)·p(b) — a and b no longer related.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977639"/>
            <a:ext cx="1088136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800" b="0">
                <a:solidFill>
                  <a:srgbClr val="222833"/>
                </a:solidFill>
                <a:latin typeface="Calibri"/>
              </a:rPr>
              <a:t>▸  If the classifier is trained to (Bayes-)optimality, its score T(x) on a sample approximates the log-density-ratio log[ p(a,b) / p(a)p(b) ].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800" b="1">
                <a:solidFill>
                  <a:srgbClr val="222833"/>
                </a:solidFill>
                <a:latin typeface="Calibri"/>
              </a:rPr>
              <a:t>▸  Averaging that score over real samples gives... the mutual information.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800" b="0">
                <a:solidFill>
                  <a:srgbClr val="222833"/>
                </a:solidFill>
                <a:latin typeface="Calibri"/>
              </a:rPr>
              <a:t>▸  This is the core trick the entire codebase implements.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565392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3A3"/>
                </a:solidFill>
                <a:latin typeface="Calibri"/>
              </a:rPr>
              <a:t>The Key Idea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94415" y="6565392"/>
            <a:ext cx="731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3A3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8A8C"/>
                </a:solidFill>
                <a:latin typeface="Calibri"/>
              </a:rPr>
              <a:t>STEP 1 — image.py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4A"/>
                </a:solidFill>
                <a:latin typeface="Calibri"/>
              </a:rPr>
              <a:t>Defining “a” and “b”: the inner/outer patch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005840" cy="38100"/>
          </a:xfrm>
          <a:prstGeom prst="rect">
            <a:avLst/>
          </a:prstGeom>
          <a:solidFill>
            <a:srgbClr val="E0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603504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800" b="0">
                <a:solidFill>
                  <a:srgbClr val="222833"/>
                </a:solidFill>
                <a:latin typeface="Calibri"/>
              </a:rPr>
              <a:t>▸  Every image is split into a centered square inner patch (a) and everything else, the outer patch (b).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800" b="0">
                <a:solidFill>
                  <a:srgbClr val="222833"/>
                </a:solidFill>
                <a:latin typeface="Calibri"/>
              </a:rPr>
              <a:t>▸  get_center_region(length, height, width) returns the (top, bottom, left, right) box of the inner patch.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800" b="1">
                <a:solidFill>
                  <a:srgbClr val="222833"/>
                </a:solidFill>
                <a:latin typeface="Calibri"/>
              </a:rPr>
              <a:t>▸  Sweeping length from 1 up to the full image size traces out exactly how MI(a, b) changes as the inner patch grows — the whole point of the analysis.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6640" y="1920240"/>
            <a:ext cx="3931920" cy="3931920"/>
          </a:xfrm>
          <a:prstGeom prst="rect">
            <a:avLst/>
          </a:prstGeom>
          <a:solidFill>
            <a:srgbClr val="DDE3EC"/>
          </a:solidFill>
          <a:ln w="12700">
            <a:solidFill>
              <a:srgbClr val="8A9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46897" y="3060497"/>
            <a:ext cx="1651406" cy="1651406"/>
          </a:xfrm>
          <a:prstGeom prst="rect">
            <a:avLst/>
          </a:prstGeom>
          <a:solidFill>
            <a:srgbClr val="E0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46897" y="3060497"/>
            <a:ext cx="1651406" cy="165140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a</a:t>
            </a:r>
          </a:p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(inner)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0" y="201168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B2A4A"/>
                </a:solidFill>
                <a:latin typeface="Calibri"/>
              </a:rPr>
              <a:t>b (outer)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598932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8A93A3"/>
                </a:solidFill>
                <a:latin typeface="Consolas"/>
              </a:rPr>
              <a:t>get_center_region(length, H, W)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565392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3A3"/>
                </a:solidFill>
                <a:latin typeface="Calibri"/>
              </a:rPr>
              <a:t>Step 1: Partitioning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94415" y="6565392"/>
            <a:ext cx="731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3A3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8A8C"/>
                </a:solidFill>
                <a:latin typeface="Calibri"/>
              </a:rPr>
              <a:t>STEP 2 — mine.py: get_finite_dataset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4A"/>
                </a:solidFill>
                <a:latin typeface="Calibri"/>
              </a:rPr>
              <a:t>Building the “fake” (marginal) samples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005840" cy="38100"/>
          </a:xfrm>
          <a:prstGeom prst="rect">
            <a:avLst/>
          </a:prstGeom>
          <a:solidFill>
            <a:srgbClr val="E0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222833"/>
                </a:solidFill>
                <a:latin typeface="Calibri"/>
              </a:rPr>
              <a:t>Splice image A’s outer patch with image B’s inner patch — two unrelated images: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148840"/>
            <a:ext cx="2834640" cy="1828800"/>
          </a:xfrm>
          <a:prstGeom prst="rect">
            <a:avLst/>
          </a:prstGeom>
          <a:solidFill>
            <a:srgbClr val="C9D1DE"/>
          </a:solidFill>
          <a:ln w="9525">
            <a:solidFill>
              <a:srgbClr val="8A9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45006" y="2467966"/>
            <a:ext cx="1190548" cy="1190548"/>
          </a:xfrm>
          <a:prstGeom prst="rect">
            <a:avLst/>
          </a:prstGeom>
          <a:solidFill>
            <a:srgbClr val="1F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087368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B2A4A"/>
                </a:solidFill>
                <a:latin typeface="Calibri"/>
              </a:rPr>
              <a:t>Image 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2148840"/>
            <a:ext cx="2834640" cy="1828800"/>
          </a:xfrm>
          <a:prstGeom prst="rect">
            <a:avLst/>
          </a:prstGeom>
          <a:solidFill>
            <a:srgbClr val="C9D1DE"/>
          </a:solidFill>
          <a:ln w="9525">
            <a:solidFill>
              <a:srgbClr val="8A9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256886" y="2467966"/>
            <a:ext cx="1190548" cy="1190548"/>
          </a:xfrm>
          <a:prstGeom prst="rect">
            <a:avLst/>
          </a:prstGeom>
          <a:solidFill>
            <a:srgbClr val="E0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4087368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B2A4A"/>
                </a:solidFill>
                <a:latin typeface="Calibri"/>
              </a:rPr>
              <a:t>Image 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788920"/>
            <a:ext cx="777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8A93A3"/>
                </a:solidFill>
                <a:latin typeface="Calibri"/>
              </a:rPr>
              <a:t>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2788920"/>
            <a:ext cx="777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8A93A3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2148840"/>
            <a:ext cx="2834640" cy="1828800"/>
          </a:xfrm>
          <a:prstGeom prst="rect">
            <a:avLst/>
          </a:prstGeom>
          <a:solidFill>
            <a:srgbClr val="C9D1DE"/>
          </a:solidFill>
          <a:ln w="9525">
            <a:solidFill>
              <a:srgbClr val="8A9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868766" y="2467966"/>
            <a:ext cx="1190548" cy="1190548"/>
          </a:xfrm>
          <a:prstGeom prst="rect">
            <a:avLst/>
          </a:prstGeom>
          <a:solidFill>
            <a:srgbClr val="E0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0" y="4087368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B2A4A"/>
                </a:solidFill>
                <a:latin typeface="Calibri"/>
              </a:rPr>
              <a:t>“Fake” (marginal)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48056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8A93A3"/>
                </a:solidFill>
                <a:latin typeface="Calibri"/>
              </a:rPr>
              <a:t>outer patch used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4480560"/>
            <a:ext cx="2834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8A93A3"/>
                </a:solidFill>
                <a:latin typeface="Calibri"/>
              </a:rPr>
              <a:t>inner patch used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892040"/>
            <a:ext cx="1088136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0">
                <a:solidFill>
                  <a:srgbClr val="222833"/>
                </a:solidFill>
                <a:latin typeface="Calibri"/>
              </a:rPr>
              <a:t>▸  get_mixed_indices() pairs up images so the inner/outer patch never accidentally come from the same image — otherwise a “fake” sample would secretly be a real one, and bias the estimate.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0">
                <a:solidFill>
                  <a:srgbClr val="222833"/>
                </a:solidFill>
                <a:latin typeface="Calibri"/>
              </a:rPr>
              <a:t>▸  The “real” batch, by contrast, is just untouched images — no splicing at all.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3A3"/>
                </a:solidFill>
                <a:latin typeface="Calibri"/>
              </a:rPr>
              <a:t>Step 2: Sample Construction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565392"/>
            <a:ext cx="731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3A3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8A8C"/>
                </a:solidFill>
                <a:latin typeface="Calibri"/>
              </a:rPr>
              <a:t>STEP 3 — mine.py: Model.build_model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4A"/>
                </a:solidFill>
                <a:latin typeface="Calibri"/>
              </a:rPr>
              <a:t>One scoring network, two inputs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005840" cy="38100"/>
          </a:xfrm>
          <a:prstGeom prst="rect">
            <a:avLst/>
          </a:prstGeom>
          <a:solidFill>
            <a:srgbClr val="E0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2377440" cy="640080"/>
          </a:xfrm>
          <a:prstGeom prst="roundRect">
            <a:avLst>
              <a:gd name="adj" fmla="val 8000"/>
            </a:avLst>
          </a:prstGeom>
          <a:solidFill>
            <a:srgbClr val="EAF4F4"/>
          </a:solidFill>
          <a:ln w="15875">
            <a:solidFill>
              <a:srgbClr val="1F8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23774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F8A8C"/>
                </a:solidFill>
                <a:latin typeface="Calibri"/>
              </a:rPr>
              <a:t>joint_input</a:t>
            </a:r>
          </a:p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F8A8C"/>
                </a:solidFill>
                <a:latin typeface="Calibri"/>
              </a:rPr>
              <a:t>(real image)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06840" y="1828800"/>
            <a:ext cx="2377440" cy="640080"/>
          </a:xfrm>
          <a:prstGeom prst="roundRect">
            <a:avLst>
              <a:gd name="adj" fmla="val 8000"/>
            </a:avLst>
          </a:prstGeom>
          <a:solidFill>
            <a:srgbClr val="FBEFE2"/>
          </a:solidFill>
          <a:ln w="15875">
            <a:solidFill>
              <a:srgbClr val="E07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06840" y="1828800"/>
            <a:ext cx="23774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E07A2C"/>
                </a:solidFill>
                <a:latin typeface="Calibri"/>
              </a:rPr>
              <a:t>marginal_input</a:t>
            </a:r>
          </a:p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E07A2C"/>
                </a:solidFill>
                <a:latin typeface="Calibri"/>
              </a:rPr>
              <a:t>(fake image)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63240" y="2331720"/>
            <a:ext cx="3017520" cy="237744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3240" y="246888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model_core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926080"/>
            <a:ext cx="25603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 i="0">
                <a:solidFill>
                  <a:srgbClr val="D8DEEA"/>
                </a:solidFill>
                <a:latin typeface="Consolas"/>
              </a:rPr>
              <a:t>Flatten</a:t>
            </a:r>
          </a:p>
          <a:p>
            <a:pPr algn="ctr">
              <a:lnSpc>
                <a:spcPct val="115000"/>
              </a:lnSpc>
            </a:pPr>
            <a:r>
              <a:rPr sz="1250" b="0" i="0">
                <a:solidFill>
                  <a:srgbClr val="D8DEEA"/>
                </a:solidFill>
                <a:latin typeface="Consolas"/>
              </a:rPr>
              <a:t>↓</a:t>
            </a:r>
          </a:p>
          <a:p>
            <a:pPr algn="ctr">
              <a:lnSpc>
                <a:spcPct val="115000"/>
              </a:lnSpc>
            </a:pPr>
            <a:r>
              <a:rPr sz="1250" b="0" i="0">
                <a:solidFill>
                  <a:srgbClr val="D8DEEA"/>
                </a:solidFill>
                <a:latin typeface="Consolas"/>
              </a:rPr>
              <a:t>[Dense(n) → ReLU → Dropout] × layers</a:t>
            </a:r>
          </a:p>
          <a:p>
            <a:pPr algn="ctr">
              <a:lnSpc>
                <a:spcPct val="115000"/>
              </a:lnSpc>
            </a:pPr>
            <a:r>
              <a:rPr sz="1250" b="0" i="0">
                <a:solidFill>
                  <a:srgbClr val="D8DEEA"/>
                </a:solidFill>
                <a:latin typeface="Consolas"/>
              </a:rPr>
              <a:t>↓</a:t>
            </a:r>
          </a:p>
          <a:p>
            <a:pPr algn="ctr">
              <a:lnSpc>
                <a:spcPct val="115000"/>
              </a:lnSpc>
            </a:pPr>
            <a:r>
              <a:rPr sz="1250" b="0" i="0">
                <a:solidFill>
                  <a:srgbClr val="D8DEEA"/>
                </a:solidFill>
                <a:latin typeface="Consolas"/>
              </a:rPr>
              <a:t>Dense(1)  (no activation)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475488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8A93A3"/>
                </a:solidFill>
                <a:latin typeface="Calibri"/>
              </a:rPr>
              <a:t>← SAME weights used for both inputs 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120640"/>
            <a:ext cx="2377440" cy="64008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 w="15875">
            <a:solidFill>
              <a:srgbClr val="1F8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120640"/>
            <a:ext cx="23774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222833"/>
                </a:solidFill>
                <a:latin typeface="Calibri"/>
              </a:rPr>
              <a:t>joint_output = T(a,b)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06840" y="5120640"/>
            <a:ext cx="2377440" cy="64008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 w="15875">
            <a:solidFill>
              <a:srgbClr val="E07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06840" y="5120640"/>
            <a:ext cx="23774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222833"/>
                </a:solidFill>
                <a:latin typeface="Calibri"/>
              </a:rPr>
              <a:t>marginal_output = T(a',b)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011680.0" y="2468880"/>
            <a:ext cx="1143000.0" cy="137160"/>
          </a:xfrm>
          <a:prstGeom prst="line">
            <a:avLst/>
          </a:prstGeom>
          <a:ln w="19050">
            <a:solidFill>
              <a:srgbClr val="8A93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5989320.0" y="2468880"/>
            <a:ext cx="4206240.0" cy="137160"/>
          </a:xfrm>
          <a:prstGeom prst="line">
            <a:avLst/>
          </a:prstGeom>
          <a:ln w="19050">
            <a:solidFill>
              <a:srgbClr val="8A93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2011680.0" y="4434840"/>
            <a:ext cx="1143000.0" cy="685800"/>
          </a:xfrm>
          <a:prstGeom prst="line">
            <a:avLst/>
          </a:prstGeom>
          <a:ln w="19050">
            <a:solidFill>
              <a:srgbClr val="8A93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989320.0" y="4434840"/>
            <a:ext cx="4206240.0" cy="685800"/>
          </a:xfrm>
          <a:prstGeom prst="line">
            <a:avLst/>
          </a:prstGeom>
          <a:ln w="19050">
            <a:solidFill>
              <a:srgbClr val="8A93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40080" y="598932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8A93A3"/>
                </a:solidFill>
                <a:latin typeface="Calibri"/>
              </a:rPr>
              <a:t>Both towers are literally the same Sequential model called twice — not two separate networks — so the network learns one scoring function T(x).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565392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3A3"/>
                </a:solidFill>
                <a:latin typeface="Calibri"/>
              </a:rPr>
              <a:t>Step 3: The Network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94415" y="6565392"/>
            <a:ext cx="731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3A3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8A8C"/>
                </a:solidFill>
                <a:latin typeface="Calibri"/>
              </a:rPr>
              <a:t>STEP 4 — mine.py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4A"/>
                </a:solidFill>
                <a:latin typeface="Calibri"/>
              </a:rPr>
              <a:t>Training: two loss-function options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005840" cy="38100"/>
          </a:xfrm>
          <a:prstGeom prst="rect">
            <a:avLst/>
          </a:prstGeom>
          <a:solidFill>
            <a:srgbClr val="E0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5349240" cy="2331720"/>
          </a:xfrm>
          <a:prstGeom prst="roundRect">
            <a:avLst>
              <a:gd name="adj" fmla="val 8000"/>
            </a:avLst>
          </a:prstGeom>
          <a:solidFill>
            <a:srgbClr val="EAF4F4"/>
          </a:solidFill>
          <a:ln w="15875">
            <a:solidFill>
              <a:srgbClr val="1F8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F8A8C"/>
                </a:solidFill>
                <a:latin typeface="Consolas"/>
              </a:rPr>
              <a:t>LogisticRegression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86000"/>
            <a:ext cx="489204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0">
                <a:solidFill>
                  <a:srgbClr val="222833"/>
                </a:solidFill>
                <a:latin typeface="Calibri"/>
              </a:rPr>
              <a:t>▸  Literal binary classification: label = 1 for real batches, label = 0 for fake batches.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0">
                <a:solidFill>
                  <a:srgbClr val="222833"/>
                </a:solidFill>
                <a:latin typeface="Calibri"/>
              </a:rPr>
              <a:t>▸  Cross-entropy loss (sigmoid_cross_entropy_with_logits).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222833"/>
                </a:solidFill>
                <a:latin typeface="Calibri"/>
              </a:rPr>
              <a:t>▸  What this project's own experiments use.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91640"/>
            <a:ext cx="5349240" cy="2331720"/>
          </a:xfrm>
          <a:prstGeom prst="roundRect">
            <a:avLst>
              <a:gd name="adj" fmla="val 8000"/>
            </a:avLst>
          </a:prstGeom>
          <a:solidFill>
            <a:srgbClr val="FBEFE2"/>
          </a:solidFill>
          <a:ln w="15875">
            <a:solidFill>
              <a:srgbClr val="E07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82880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E07A2C"/>
                </a:solidFill>
                <a:latin typeface="Consolas"/>
              </a:rPr>
              <a:t>MINE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286000"/>
            <a:ext cx="489204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0">
                <a:solidFill>
                  <a:srgbClr val="222833"/>
                </a:solidFill>
                <a:latin typeface="Calibri"/>
              </a:rPr>
              <a:t>▸  Directly optimizes the Donsker-Varadhan lower bound on MI as the training objective.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0">
                <a:solidFill>
                  <a:srgbClr val="222833"/>
                </a:solidFill>
                <a:latin typeface="Calibri"/>
              </a:rPr>
              <a:t>▸  loss = −( E_joint[T] − log(E_marginal[exp(T)]) 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0">
                <a:solidFill>
                  <a:srgbClr val="222833"/>
                </a:solidFill>
                <a:latin typeface="Calibri"/>
              </a:rPr>
              <a:t>▸  Belghazi et al., “MINE” (2018) — an alternative, selectable algorithm.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51960"/>
            <a:ext cx="1088136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700" b="0">
                <a:solidFill>
                  <a:srgbClr val="222833"/>
                </a:solidFill>
                <a:latin typeface="Calibri"/>
              </a:rPr>
              <a:t>▸  Both are trained the same way: alternate real/fake batches from get_finite_dataset, Adam/RMSprop/SGD optimizer.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700" b="0">
                <a:solidFill>
                  <a:srgbClr val="222833"/>
                </a:solidFill>
                <a:latin typeface="Calibri"/>
              </a:rPr>
              <a:t>▸  Early stopping: training halts once validation loss stops improving for `patience` epochs, and the best-seen weights are restored.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6565392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3A3"/>
                </a:solidFill>
                <a:latin typeface="Calibri"/>
              </a:rPr>
              <a:t>Step 4: Training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94415" y="6565392"/>
            <a:ext cx="731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3A3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8A8C"/>
                </a:solidFill>
                <a:latin typeface="Calibri"/>
              </a:rPr>
              <a:t>STEP 5 — mine.py: Model.evaluate_MI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4A"/>
                </a:solidFill>
                <a:latin typeface="Calibri"/>
              </a:rPr>
              <a:t>Turning the trained network into an MI number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005840" cy="38100"/>
          </a:xfrm>
          <a:prstGeom prst="rect">
            <a:avLst/>
          </a:prstGeom>
          <a:solidFill>
            <a:srgbClr val="E0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222833"/>
                </a:solidFill>
                <a:latin typeface="Calibri"/>
              </a:rPr>
              <a:t>After training, freeze the weights and average the score on held-out data: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5029200" cy="1737360"/>
          </a:xfrm>
          <a:prstGeom prst="roundRect">
            <a:avLst>
              <a:gd name="adj" fmla="val 8000"/>
            </a:avLst>
          </a:prstGeom>
          <a:solidFill>
            <a:srgbClr val="24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4688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07A2C"/>
                </a:solidFill>
                <a:latin typeface="Consolas"/>
              </a:rPr>
              <a:t>direct_mi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880360"/>
            <a:ext cx="4572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E3E7EE"/>
                </a:solidFill>
                <a:latin typeface="Consolas"/>
              </a:rPr>
              <a:t>= mean( T(x) )</a:t>
            </a:r>
          </a:p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E3E7EE"/>
                </a:solidFill>
                <a:latin typeface="Consolas"/>
              </a:rPr>
              <a:t>   over real batches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331720"/>
            <a:ext cx="5029200" cy="1737360"/>
          </a:xfrm>
          <a:prstGeom prst="roundRect">
            <a:avLst>
              <a:gd name="adj" fmla="val 8000"/>
            </a:avLst>
          </a:prstGeom>
          <a:solidFill>
            <a:srgbClr val="242B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4688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F8A8C"/>
                </a:solidFill>
                <a:latin typeface="Consolas"/>
              </a:rPr>
              <a:t>indirect_mi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880360"/>
            <a:ext cx="45720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E3E7EE"/>
                </a:solidFill>
                <a:latin typeface="Consolas"/>
              </a:rPr>
              <a:t>= direct_mi −</a:t>
            </a:r>
          </a:p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E3E7EE"/>
                </a:solidFill>
                <a:latin typeface="Consolas"/>
              </a:rPr>
              <a:t>   log( mean( exp(T(x)) ) over fake batches 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343400"/>
            <a:ext cx="1088136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0">
                <a:solidFill>
                  <a:srgbClr val="222833"/>
                </a:solidFill>
                <a:latin typeface="Calibri"/>
              </a:rPr>
              <a:t>▸  direct_mi is exact only if the classifier reached the true optimum — no correction, but simple and numerically stable.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0">
                <a:solidFill>
                  <a:srgbClr val="222833"/>
                </a:solidFill>
                <a:latin typeface="Calibri"/>
              </a:rPr>
              <a:t>▸  indirect_mi's extra term is mathematically forced to ≈ 0 at the true optimum, so it self-corrects some training imperfection — but the exp() term makes it noisier.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>
                <a:solidFill>
                  <a:srgbClr val="222833"/>
                </a:solidFill>
                <a:latin typeface="Calibri"/>
              </a:rPr>
              <a:t>▸  Which one to trust is dataset-dependent; this project defaults to direct_mi for real (non-Gaussian) data.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565392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3A3"/>
                </a:solidFill>
                <a:latin typeface="Calibri"/>
              </a:rPr>
              <a:t>Step 5: Evaluating MI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94415" y="6565392"/>
            <a:ext cx="731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3A3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8A8C"/>
                </a:solidFill>
                <a:latin typeface="Calibri"/>
              </a:rPr>
              <a:t>PUTTING IT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4A"/>
                </a:solidFill>
                <a:latin typeface="Calibri"/>
              </a:rPr>
              <a:t>run_bipartition(): one call, one measurement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005840" cy="38100"/>
          </a:xfrm>
          <a:prstGeom prst="rect">
            <a:avLst/>
          </a:prstGeom>
          <a:solidFill>
            <a:srgbClr val="E0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2377440"/>
            <a:ext cx="1965960" cy="123444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 w="15875">
            <a:solidFill>
              <a:srgbClr val="8A9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2377440"/>
            <a:ext cx="1819656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222833"/>
                </a:solidFill>
                <a:latin typeface="Calibri"/>
              </a:rPr>
              <a:t>load images</a:t>
            </a:r>
          </a:p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222833"/>
                </a:solidFill>
                <a:latin typeface="Calibri"/>
              </a:rPr>
              <a:t>(get_images)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68880" y="2994660.0"/>
            <a:ext cx="292608" cy="0.0"/>
          </a:xfrm>
          <a:prstGeom prst="line">
            <a:avLst/>
          </a:prstGeom>
          <a:ln w="25400">
            <a:solidFill>
              <a:srgbClr val="8A93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761488" y="2377440"/>
            <a:ext cx="1965960" cy="123444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 w="15875">
            <a:solidFill>
              <a:srgbClr val="8A9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2377440"/>
            <a:ext cx="1819656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222833"/>
                </a:solidFill>
                <a:latin typeface="Calibri"/>
              </a:rPr>
              <a:t>split into</a:t>
            </a:r>
          </a:p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222833"/>
                </a:solidFill>
                <a:latin typeface="Calibri"/>
              </a:rPr>
              <a:t>inner / outer</a:t>
            </a:r>
          </a:p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222833"/>
                </a:solidFill>
                <a:latin typeface="Calibri"/>
              </a:rPr>
              <a:t>(get_center_region)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27448" y="2994660.0"/>
            <a:ext cx="292608" cy="0.0"/>
          </a:xfrm>
          <a:prstGeom prst="line">
            <a:avLst/>
          </a:prstGeom>
          <a:ln w="25400">
            <a:solidFill>
              <a:srgbClr val="8A93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020056" y="2377440"/>
            <a:ext cx="1965960" cy="1234440"/>
          </a:xfrm>
          <a:prstGeom prst="roundRect">
            <a:avLst>
              <a:gd name="adj" fmla="val 8000"/>
            </a:avLst>
          </a:prstGeom>
          <a:solidFill>
            <a:srgbClr val="EA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93208" y="2377440"/>
            <a:ext cx="1819656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1F8A8C"/>
                </a:solidFill>
                <a:latin typeface="Calibri"/>
              </a:rPr>
              <a:t>build classifier</a:t>
            </a:r>
          </a:p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1F8A8C"/>
                </a:solidFill>
                <a:latin typeface="Calibri"/>
              </a:rPr>
              <a:t>(Model)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986016" y="2994660.0"/>
            <a:ext cx="292608" cy="0.0"/>
          </a:xfrm>
          <a:prstGeom prst="line">
            <a:avLst/>
          </a:prstGeom>
          <a:ln w="25400">
            <a:solidFill>
              <a:srgbClr val="8A93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278624" y="2377440"/>
            <a:ext cx="1965960" cy="1234440"/>
          </a:xfrm>
          <a:prstGeom prst="roundRect">
            <a:avLst>
              <a:gd name="adj" fmla="val 8000"/>
            </a:avLst>
          </a:prstGeom>
          <a:solidFill>
            <a:srgbClr val="FB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1776" y="2377440"/>
            <a:ext cx="1819656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E07A2C"/>
                </a:solidFill>
                <a:latin typeface="Calibri"/>
              </a:rPr>
              <a:t>train</a:t>
            </a:r>
          </a:p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E07A2C"/>
                </a:solidFill>
                <a:latin typeface="Calibri"/>
              </a:rPr>
              <a:t>(alternating real/</a:t>
            </a:r>
          </a:p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E07A2C"/>
                </a:solidFill>
                <a:latin typeface="Calibri"/>
              </a:rPr>
              <a:t>fake batches)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244584" y="2994660.0"/>
            <a:ext cx="292608" cy="0.0"/>
          </a:xfrm>
          <a:prstGeom prst="line">
            <a:avLst/>
          </a:prstGeom>
          <a:ln w="25400">
            <a:solidFill>
              <a:srgbClr val="8A93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537192" y="2377440"/>
            <a:ext cx="1965960" cy="123444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10344" y="2377440"/>
            <a:ext cx="1819656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evaluate</a:t>
            </a:r>
          </a:p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(direct_mi,</a:t>
            </a:r>
          </a:p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indirect_mi)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9319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8A93A3"/>
                </a:solidFill>
                <a:latin typeface="Calibri"/>
              </a:rPr>
              <a:t>one MI estimate, at one partition length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97680"/>
            <a:ext cx="1088136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700" b="0">
                <a:solidFill>
                  <a:srgbClr val="222833"/>
                </a:solidFill>
                <a:latin typeface="Calibri"/>
              </a:rPr>
              <a:t>▸  Repeat this whole call once per partition length (1, 2, 3, … up to the full image size) — a fresh network is trained from scratch each time.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700" b="1">
                <a:solidFill>
                  <a:srgbClr val="222833"/>
                </a:solidFill>
                <a:latin typeface="Calibri"/>
              </a:rPr>
              <a:t>▸  Plotting each length's MI estimate against that length gives the MI scaling curve, the actual object of scientific interest.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565392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3A3"/>
                </a:solidFill>
                <a:latin typeface="Calibri"/>
              </a:rPr>
              <a:t>The Full Measurement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565392"/>
            <a:ext cx="731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3A3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FFFFF"/>
                </a:solidFill>
                <a:latin typeface="Calibri"/>
              </a:rPr>
              <a:t>Validating the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52044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C7CFDE"/>
                </a:solidFill>
                <a:latin typeface="Calibri"/>
              </a:rPr>
              <a:t>Before trusting a neural estimator on real data, test it where the true answer is already known.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4160520"/>
            <a:ext cx="1005840" cy="38100"/>
          </a:xfrm>
          <a:prstGeom prst="rect">
            <a:avLst/>
          </a:prstGeom>
          <a:solidFill>
            <a:srgbClr val="E0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3A3"/>
                </a:solidFill>
                <a:latin typeface="Calibri"/>
              </a:rPr>
              <a:t>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65392"/>
            <a:ext cx="731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3A3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8A8C"/>
                </a:solidFill>
                <a:latin typeface="Calibri"/>
              </a:rPr>
              <a:t>SYNTHETIC TEST BEDS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4A"/>
                </a:solidFill>
                <a:latin typeface="Calibri"/>
              </a:rPr>
              <a:t>Gaussian Markov Random Fields (image.py)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005840" cy="38100"/>
          </a:xfrm>
          <a:prstGeom prst="rect">
            <a:avLst/>
          </a:prstGeom>
          <a:solidFill>
            <a:srgbClr val="E0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3566160" cy="3749039"/>
          </a:xfrm>
          <a:prstGeom prst="roundRect">
            <a:avLst>
              <a:gd name="adj" fmla="val 8000"/>
            </a:avLst>
          </a:prstGeom>
          <a:solidFill>
            <a:srgbClr val="EAF4F4"/>
          </a:solidFill>
          <a:ln w="15875">
            <a:solidFill>
              <a:srgbClr val="1F8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1F8A8C"/>
                </a:solidFill>
                <a:latin typeface="Consolas"/>
              </a:rPr>
              <a:t>"area"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97480"/>
            <a:ext cx="31089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0" i="0">
                <a:solidFill>
                  <a:srgbClr val="222833"/>
                </a:solidFill>
                <a:latin typeface="Calibri"/>
              </a:rPr>
              <a:t>Nearest-neighbor</a:t>
            </a:r>
          </a:p>
          <a:p>
            <a:pPr algn="ctr">
              <a:lnSpc>
                <a:spcPct val="120000"/>
              </a:lnSpc>
            </a:pPr>
            <a:r>
              <a:rPr sz="1500" b="0" i="0">
                <a:solidFill>
                  <a:srgbClr val="222833"/>
                </a:solidFill>
                <a:latin typeface="Calibri"/>
              </a:rPr>
              <a:t>correlations only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720" y="4114800"/>
            <a:ext cx="2468880" cy="19050"/>
          </a:xfrm>
          <a:prstGeom prst="rect">
            <a:avLst/>
          </a:prstGeom>
          <a:solidFill>
            <a:srgbClr val="1F8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297680"/>
            <a:ext cx="3108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1F8A8C"/>
                </a:solidFill>
                <a:latin typeface="Calibri"/>
              </a:rPr>
              <a:t>Boundary / area law</a:t>
            </a:r>
          </a:p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1F8A8C"/>
                </a:solidFill>
                <a:latin typeface="Calibri"/>
              </a:rPr>
              <a:t>MI ∼ L  (linear)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783080"/>
            <a:ext cx="3566160" cy="3749039"/>
          </a:xfrm>
          <a:prstGeom prst="roundRect">
            <a:avLst>
              <a:gd name="adj" fmla="val 8000"/>
            </a:avLst>
          </a:prstGeom>
          <a:solidFill>
            <a:srgbClr val="FBEFE2"/>
          </a:solidFill>
          <a:ln w="15875">
            <a:solidFill>
              <a:srgbClr val="E07A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2011680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E07A2C"/>
                </a:solidFill>
                <a:latin typeface="Consolas"/>
              </a:rPr>
              <a:t>"diffuse"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697480"/>
            <a:ext cx="31089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0" i="0">
                <a:solidFill>
                  <a:srgbClr val="222833"/>
                </a:solidFill>
                <a:latin typeface="Calibri"/>
              </a:rPr>
              <a:t>Every pixel equally</a:t>
            </a:r>
          </a:p>
          <a:p>
            <a:pPr algn="ctr">
              <a:lnSpc>
                <a:spcPct val="120000"/>
              </a:lnSpc>
            </a:pPr>
            <a:r>
              <a:rPr sz="1500" b="0" i="0">
                <a:solidFill>
                  <a:srgbClr val="222833"/>
                </a:solidFill>
                <a:latin typeface="Calibri"/>
              </a:rPr>
              <a:t>correlated with</a:t>
            </a:r>
          </a:p>
          <a:p>
            <a:pPr algn="ctr">
              <a:lnSpc>
                <a:spcPct val="120000"/>
              </a:lnSpc>
            </a:pPr>
            <a:r>
              <a:rPr sz="1500" b="0" i="0">
                <a:solidFill>
                  <a:srgbClr val="222833"/>
                </a:solidFill>
                <a:latin typeface="Calibri"/>
              </a:rPr>
              <a:t>every other pixel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74920" y="4114800"/>
            <a:ext cx="2468880" cy="19050"/>
          </a:xfrm>
          <a:prstGeom prst="rect">
            <a:avLst/>
          </a:prstGeom>
          <a:solidFill>
            <a:srgbClr val="E0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4297680"/>
            <a:ext cx="3108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E07A2C"/>
                </a:solidFill>
                <a:latin typeface="Calibri"/>
              </a:rPr>
              <a:t>Volume law</a:t>
            </a:r>
          </a:p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E07A2C"/>
                </a:solidFill>
                <a:latin typeface="Calibri"/>
              </a:rPr>
              <a:t>MI ∼ L²  (quadratic)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1783080"/>
            <a:ext cx="3566160" cy="3749039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 w="15875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2011680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1B2A4A"/>
                </a:solidFill>
                <a:latin typeface="Consolas"/>
              </a:rPr>
              <a:t>"sparse"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80" y="2697480"/>
            <a:ext cx="31089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0" i="0">
                <a:solidFill>
                  <a:srgbClr val="222833"/>
                </a:solidFill>
                <a:latin typeface="Calibri"/>
              </a:rPr>
              <a:t>Nearest-neighbor</a:t>
            </a:r>
          </a:p>
          <a:p>
            <a:pPr algn="ctr">
              <a:lnSpc>
                <a:spcPct val="120000"/>
              </a:lnSpc>
            </a:pPr>
            <a:r>
              <a:rPr sz="1500" b="0" i="0">
                <a:solidFill>
                  <a:srgbClr val="222833"/>
                </a:solidFill>
                <a:latin typeface="Calibri"/>
              </a:rPr>
              <a:t>graph, but positions</a:t>
            </a:r>
          </a:p>
          <a:p>
            <a:pPr algn="ctr">
              <a:lnSpc>
                <a:spcPct val="120000"/>
              </a:lnSpc>
            </a:pPr>
            <a:r>
              <a:rPr sz="1500" b="0" i="0">
                <a:solidFill>
                  <a:srgbClr val="222833"/>
                </a:solidFill>
                <a:latin typeface="Calibri"/>
              </a:rPr>
              <a:t>randomly scattered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0" y="4114800"/>
            <a:ext cx="2468880" cy="1905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41080" y="4297680"/>
            <a:ext cx="3108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1B2A4A"/>
                </a:solidFill>
                <a:latin typeface="Calibri"/>
              </a:rPr>
              <a:t>Volume law</a:t>
            </a:r>
          </a:p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1B2A4A"/>
                </a:solidFill>
                <a:latin typeface="Calibri"/>
              </a:rPr>
              <a:t>(local structure,</a:t>
            </a:r>
          </a:p>
          <a:p>
            <a:pPr algn="ctr">
              <a:lnSpc>
                <a:spcPct val="125000"/>
              </a:lnSpc>
            </a:pPr>
            <a:r>
              <a:rPr sz="1500" b="1" i="0">
                <a:solidFill>
                  <a:srgbClr val="1B2A4A"/>
                </a:solidFill>
                <a:latin typeface="Calibri"/>
              </a:rPr>
              <a:t>global geometry)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76072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8A93A3"/>
                </a:solidFill>
                <a:latin typeface="Calibri"/>
              </a:rPr>
              <a:t>Each field's exact MI is a known, closed-form function of its covariance matrix — no training required to know the right answer.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565392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3A3"/>
                </a:solidFill>
                <a:latin typeface="Calibri"/>
              </a:rPr>
              <a:t>Validation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565392"/>
            <a:ext cx="731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3A3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8A8C"/>
                </a:solidFill>
                <a:latin typeface="Calibri"/>
              </a:rPr>
              <a:t>CHECKING THE ESTIMATOR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4A"/>
                </a:solidFill>
                <a:latin typeface="Calibri"/>
              </a:rPr>
              <a:t>get_analytic_MI: the closed-form answer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005840" cy="38100"/>
          </a:xfrm>
          <a:prstGeom prst="rect">
            <a:avLst/>
          </a:prstGeom>
          <a:solidFill>
            <a:srgbClr val="E0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88136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800" b="0">
                <a:solidFill>
                  <a:srgbClr val="222833"/>
                </a:solidFill>
                <a:latin typeface="Calibri"/>
              </a:rPr>
              <a:t>▸  For a multivariate Gaussian, differential entropy has a closed form: S = ½ log[(2πe)ⁿ det(C)].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800" b="0">
                <a:solidFill>
                  <a:srgbClr val="222833"/>
                </a:solidFill>
                <a:latin typeface="Calibri"/>
              </a:rPr>
              <a:t>▸  MI(a, b) = S(a) + S(b) − S(a, b) then follows directly from the covariance matrix — get_analytic_MI computes this exactly, instantly, for every partition length.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800" b="1">
                <a:solidFill>
                  <a:srgbClr val="222833"/>
                </a:solidFill>
                <a:latin typeface="Calibri"/>
              </a:rPr>
              <a:t>▸  No sampling, no training, no estimation error.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023360"/>
            <a:ext cx="10515600" cy="192024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251960"/>
            <a:ext cx="100584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0">
                <a:solidFill>
                  <a:srgbClr val="222833"/>
                </a:solidFill>
                <a:latin typeface="Calibri"/>
              </a:rPr>
              <a:t>▸  Train the neural estimator on samples from a GMRF with known covariance.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0">
                <a:solidFill>
                  <a:srgbClr val="222833"/>
                </a:solidFill>
                <a:latin typeface="Calibri"/>
              </a:rPr>
              <a:t>▸  Compare its direct_mi curve against the exact analytic curve, across several training-set sizes.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>
                <a:solidFill>
                  <a:srgbClr val="222833"/>
                </a:solidFill>
                <a:latin typeface="Calibri"/>
              </a:rPr>
              <a:t>▸  Larger sample sizes → estimates converge toward the exact curve — this is what justifies trusting the same estimator on real data, where no exact answer exists to check against.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65392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3A3"/>
                </a:solidFill>
                <a:latin typeface="Calibri"/>
              </a:rPr>
              <a:t>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565392"/>
            <a:ext cx="731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3A3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8A8C"/>
                </a:solidFill>
                <a:latin typeface="Calibri"/>
              </a:rPr>
              <a:t>THE REAL EXPERIMENT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4A"/>
                </a:solidFill>
                <a:latin typeface="Calibri"/>
              </a:rPr>
              <a:t>Applying the exact same pipeline to real images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005840" cy="38100"/>
          </a:xfrm>
          <a:prstGeom prst="rect">
            <a:avLst/>
          </a:prstGeom>
          <a:solidFill>
            <a:srgbClr val="E0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8813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900" b="0">
                <a:solidFill>
                  <a:srgbClr val="222833"/>
                </a:solidFill>
                <a:latin typeface="Calibri"/>
              </a:rPr>
              <a:t>▸  Same code, unmodified: get_center_region, get_finite_dataset, Model, run_bipartition.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900" b="0">
                <a:solidFill>
                  <a:srgbClr val="222833"/>
                </a:solidFill>
                <a:latin typeface="Calibri"/>
              </a:rPr>
              <a:t>▸  Original paper: MNIST (simple, high-contrast digits) vs. Tiny Images (natural, low-resolution photos) — chosen for contrasting complexity.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900" b="0">
                <a:solidFill>
                  <a:srgbClr val="222833"/>
                </a:solidFill>
                <a:latin typeface="Calibri"/>
              </a:rPr>
              <a:t>▸  Sweep partition length across the whole image; one freshly-trained network per length.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900" b="1">
                <a:solidFill>
                  <a:srgbClr val="222833"/>
                </a:solidFill>
                <a:latin typeface="Calibri"/>
              </a:rPr>
              <a:t>▸  No synthetic ground truth this time — the resulting scaling curve *is* the scientific result.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900" b="0">
                <a:solidFill>
                  <a:srgbClr val="222833"/>
                </a:solidFill>
                <a:latin typeface="Calibri"/>
              </a:rPr>
              <a:t>▸  Averaged over many independent training trials per length, to smooth out the variance any one run has.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3A3"/>
                </a:solidFill>
                <a:latin typeface="Calibri"/>
              </a:rPr>
              <a:t>The Real Experiment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65392"/>
            <a:ext cx="731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3A3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8A8C"/>
                </a:solidFill>
                <a:latin typeface="Calibri"/>
              </a:rPr>
              <a:t>THE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4A"/>
                </a:solidFill>
                <a:latin typeface="Calibri"/>
              </a:rPr>
              <a:t>Area law vs. volume law in real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005840" cy="38100"/>
          </a:xfrm>
          <a:prstGeom prst="rect">
            <a:avLst/>
          </a:prstGeom>
          <a:solidFill>
            <a:srgbClr val="E0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594360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700" b="0">
                <a:solidFill>
                  <a:srgbClr val="222833"/>
                </a:solidFill>
                <a:latin typeface="Calibri"/>
              </a:rPr>
              <a:t>▸  Linear growth (MI ∼ L) = boundary/area law: correlation is concentrated near the inner/outer cut.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700" b="0">
                <a:solidFill>
                  <a:srgbClr val="222833"/>
                </a:solidFill>
                <a:latin typeface="Calibri"/>
              </a:rPr>
              <a:t>▸  Quadratic growth (MI ∼ L²) = volume law: correlation is spread through the whole patch, not just its edge.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700" b="0">
                <a:solidFill>
                  <a:srgbClr val="222833"/>
                </a:solidFill>
                <a:latin typeface="Calibri"/>
              </a:rPr>
              <a:t>▸  Paper's finding: Tiny Images showed a clear boundary law; the evidence for MNIST was less definitive, but leaned the same way.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700" b="1">
                <a:solidFill>
                  <a:srgbClr val="222833"/>
                </a:solidFill>
                <a:latin typeface="Calibri"/>
              </a:rPr>
              <a:t>▸  Why it matters: boundary-law data suggests a 2D-grid tensor network (PEPS) is a natural fit — volume-law data would need something with more connectivity.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1783080"/>
            <a:ext cx="4617720" cy="393192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0" y="201168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Reading the curve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2514600"/>
            <a:ext cx="411480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3E7EE"/>
                </a:solidFill>
                <a:latin typeface="Consolas"/>
              </a:rPr>
              <a:t>MI(L)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3E7EE"/>
                </a:solidFill>
                <a:latin typeface="Consolas"/>
              </a:rPr>
              <a:t> │        _,•──────  ← boundary law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3E7EE"/>
                </a:solidFill>
                <a:latin typeface="Consolas"/>
              </a:rPr>
              <a:t> │     ,•'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3E7EE"/>
                </a:solidFill>
                <a:latin typeface="Consolas"/>
              </a:rPr>
              <a:t> │   ,•'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3E7EE"/>
                </a:solidFill>
                <a:latin typeface="Consolas"/>
              </a:rPr>
              <a:t> │  •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3E7EE"/>
                </a:solidFill>
                <a:latin typeface="Consolas"/>
              </a:rPr>
              <a:t> │•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3E7EE"/>
                </a:solidFill>
                <a:latin typeface="Consolas"/>
              </a:rPr>
              <a:t> └──────────────→  L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3E7EE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3E7EE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3E7EE"/>
                </a:solidFill>
                <a:latin typeface="Consolas"/>
              </a:rPr>
              <a:t>MI(L)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3E7EE"/>
                </a:solidFill>
                <a:latin typeface="Consolas"/>
              </a:rPr>
              <a:t> │              •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3E7EE"/>
                </a:solidFill>
                <a:latin typeface="Consolas"/>
              </a:rPr>
              <a:t> │           •'   ← volume law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3E7EE"/>
                </a:solidFill>
                <a:latin typeface="Consolas"/>
              </a:rPr>
              <a:t> │       •'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3E7EE"/>
                </a:solidFill>
                <a:latin typeface="Consolas"/>
              </a:rPr>
              <a:t> │   •'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3E7EE"/>
                </a:solidFill>
                <a:latin typeface="Consolas"/>
              </a:rPr>
              <a:t> │•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E3E7EE"/>
                </a:solidFill>
                <a:latin typeface="Consolas"/>
              </a:rPr>
              <a:t> └──────────────→  L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565392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3A3"/>
                </a:solidFill>
                <a:latin typeface="Calibri"/>
              </a:rPr>
              <a:t>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565392"/>
            <a:ext cx="731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3A3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F8A8C"/>
                </a:solidFill>
                <a:latin typeface="Calibr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4A"/>
                </a:solidFill>
                <a:latin typeface="Calibri"/>
              </a:rPr>
              <a:t>The full pipeline, start to finish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005840" cy="38100"/>
          </a:xfrm>
          <a:prstGeom prst="rect">
            <a:avLst/>
          </a:prstGeom>
          <a:solidFill>
            <a:srgbClr val="E0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0040" y="2286000"/>
            <a:ext cx="1481328" cy="13716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 w="15875">
            <a:solidFill>
              <a:srgbClr val="8A9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286000"/>
            <a:ext cx="1389888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222833"/>
                </a:solidFill>
                <a:latin typeface="Calibri"/>
              </a:rPr>
              <a:t>Real image</a:t>
            </a:r>
          </a:p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222833"/>
                </a:solidFill>
                <a:latin typeface="Calibri"/>
              </a:rPr>
              <a:t>dataset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01368" y="2971800.0"/>
            <a:ext cx="128016" cy="0.0"/>
          </a:xfrm>
          <a:prstGeom prst="line">
            <a:avLst/>
          </a:prstGeom>
          <a:ln w="22225">
            <a:solidFill>
              <a:srgbClr val="8A93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929384" y="2286000"/>
            <a:ext cx="1481328" cy="13716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 w="15875">
            <a:solidFill>
              <a:srgbClr val="8A9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75104" y="2286000"/>
            <a:ext cx="1389888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222833"/>
                </a:solidFill>
                <a:latin typeface="Calibri"/>
              </a:rPr>
              <a:t>Partition into</a:t>
            </a:r>
          </a:p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222833"/>
                </a:solidFill>
                <a:latin typeface="Calibri"/>
              </a:rPr>
              <a:t>inner (a) /</a:t>
            </a:r>
          </a:p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222833"/>
                </a:solidFill>
                <a:latin typeface="Calibri"/>
              </a:rPr>
              <a:t>outer (b)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410712" y="2971800.0"/>
            <a:ext cx="128016" cy="0.0"/>
          </a:xfrm>
          <a:prstGeom prst="line">
            <a:avLst/>
          </a:prstGeom>
          <a:ln w="22225">
            <a:solidFill>
              <a:srgbClr val="8A93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538728" y="2286000"/>
            <a:ext cx="1481328" cy="1371600"/>
          </a:xfrm>
          <a:prstGeom prst="roundRect">
            <a:avLst>
              <a:gd name="adj" fmla="val 8000"/>
            </a:avLst>
          </a:prstGeom>
          <a:solidFill>
            <a:srgbClr val="FB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4448" y="2286000"/>
            <a:ext cx="1389888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E07A2C"/>
                </a:solidFill>
                <a:latin typeface="Calibri"/>
              </a:rPr>
              <a:t>Splice unrelated</a:t>
            </a:r>
          </a:p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E07A2C"/>
                </a:solidFill>
                <a:latin typeface="Calibri"/>
              </a:rPr>
              <a:t>images →</a:t>
            </a:r>
          </a:p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E07A2C"/>
                </a:solidFill>
                <a:latin typeface="Calibri"/>
              </a:rPr>
              <a:t>“fake” samples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020056" y="2971800.0"/>
            <a:ext cx="128016" cy="0.0"/>
          </a:xfrm>
          <a:prstGeom prst="line">
            <a:avLst/>
          </a:prstGeom>
          <a:ln w="22225">
            <a:solidFill>
              <a:srgbClr val="8A93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148072" y="2286000"/>
            <a:ext cx="1481328" cy="1371600"/>
          </a:xfrm>
          <a:prstGeom prst="roundRect">
            <a:avLst>
              <a:gd name="adj" fmla="val 8000"/>
            </a:avLst>
          </a:prstGeom>
          <a:solidFill>
            <a:srgbClr val="EA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93792" y="2286000"/>
            <a:ext cx="1389888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F8A8C"/>
                </a:solidFill>
                <a:latin typeface="Calibri"/>
              </a:rPr>
              <a:t>Train classifier</a:t>
            </a:r>
          </a:p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F8A8C"/>
                </a:solidFill>
                <a:latin typeface="Calibri"/>
              </a:rPr>
              <a:t>T(x) to tell</a:t>
            </a:r>
          </a:p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F8A8C"/>
                </a:solidFill>
                <a:latin typeface="Calibri"/>
              </a:rPr>
              <a:t>real vs. fake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629400" y="2971800.0"/>
            <a:ext cx="128016" cy="0.0"/>
          </a:xfrm>
          <a:prstGeom prst="line">
            <a:avLst/>
          </a:prstGeom>
          <a:ln w="22225">
            <a:solidFill>
              <a:srgbClr val="8A93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757416" y="2286000"/>
            <a:ext cx="1481328" cy="1371600"/>
          </a:xfrm>
          <a:prstGeom prst="roundRect">
            <a:avLst>
              <a:gd name="adj" fmla="val 8000"/>
            </a:avLst>
          </a:prstGeom>
          <a:solidFill>
            <a:srgbClr val="EA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03136" y="2286000"/>
            <a:ext cx="1389888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F8A8C"/>
                </a:solidFill>
                <a:latin typeface="Calibri"/>
              </a:rPr>
              <a:t>Evaluate</a:t>
            </a:r>
          </a:p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F8A8C"/>
                </a:solidFill>
                <a:latin typeface="Calibri"/>
              </a:rPr>
              <a:t>direct_mi /</a:t>
            </a:r>
          </a:p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F8A8C"/>
                </a:solidFill>
                <a:latin typeface="Calibri"/>
              </a:rPr>
              <a:t>indirect_mi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238744" y="2971800.0"/>
            <a:ext cx="128016" cy="0.0"/>
          </a:xfrm>
          <a:prstGeom prst="line">
            <a:avLst/>
          </a:prstGeom>
          <a:ln w="22225">
            <a:solidFill>
              <a:srgbClr val="8A93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366760" y="2286000"/>
            <a:ext cx="1481328" cy="1371600"/>
          </a:xfrm>
          <a:prstGeom prst="roundRect">
            <a:avLst>
              <a:gd name="adj" fmla="val 8000"/>
            </a:avLst>
          </a:prstGeom>
          <a:solidFill>
            <a:srgbClr val="F2F3F5"/>
          </a:solidFill>
          <a:ln w="15875">
            <a:solidFill>
              <a:srgbClr val="8A93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2286000"/>
            <a:ext cx="1389888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222833"/>
                </a:solidFill>
                <a:latin typeface="Calibri"/>
              </a:rPr>
              <a:t>Repeat across</a:t>
            </a:r>
          </a:p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222833"/>
                </a:solidFill>
                <a:latin typeface="Calibri"/>
              </a:rPr>
              <a:t>all patch</a:t>
            </a:r>
          </a:p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222833"/>
                </a:solidFill>
                <a:latin typeface="Calibri"/>
              </a:rPr>
              <a:t>lengths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848088" y="2971800.0"/>
            <a:ext cx="128016" cy="0.0"/>
          </a:xfrm>
          <a:prstGeom prst="line">
            <a:avLst/>
          </a:prstGeom>
          <a:ln w="22225">
            <a:solidFill>
              <a:srgbClr val="8A93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976104" y="2286000"/>
            <a:ext cx="1481328" cy="13716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21824" y="2286000"/>
            <a:ext cx="1389888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MI scaling</a:t>
            </a:r>
          </a:p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curve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206240"/>
            <a:ext cx="1088136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700" b="1">
                <a:solidFill>
                  <a:srgbClr val="222833"/>
                </a:solidFill>
                <a:latin typeface="Calibri"/>
              </a:rPr>
              <a:t>▸  The whole codebase is one idea — MI estimation via a real-vs-fake classifier — applied consistently: first validated on synthetic data with a known answer, then pointed at real images to answer an open question.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700" b="0">
                <a:solidFill>
                  <a:srgbClr val="222833"/>
                </a:solidFill>
                <a:latin typeface="Calibri"/>
              </a:rPr>
              <a:t>▸  Every later experiment in this project (real datasets beyond MNIST, non-cropped sweeps, the 1D text analog) reuses this exact same pipeline unchanged.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6565392"/>
            <a:ext cx="73152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A93A3"/>
                </a:solidFill>
                <a:latin typeface="Calibri"/>
              </a:rPr>
              <a:t>Summary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94415" y="6565392"/>
            <a:ext cx="7315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A93A3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8600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Questions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3063240"/>
            <a:ext cx="1005840" cy="38100"/>
          </a:xfrm>
          <a:prstGeom prst="rect">
            <a:avLst/>
          </a:prstGeom>
          <a:solidFill>
            <a:srgbClr val="E0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3429000"/>
            <a:ext cx="1005840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 b="0">
                <a:solidFill>
                  <a:srgbClr val="E3E7EE"/>
                </a:solidFill>
                <a:latin typeface="Calibri"/>
              </a:rPr>
              <a:t>▸  Paper: Convy et al., “Mutual Information Scaling for Tensor Network Machine Learning”, arXiv:2103.00105 (2022)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 b="0">
                <a:solidFill>
                  <a:srgbClr val="E3E7EE"/>
                </a:solidFill>
                <a:latin typeface="Calibri"/>
              </a:rPr>
              <a:t>▸  Original code: github.com/IanConvy/mutual-information-scaling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 b="0">
                <a:solidFill>
                  <a:srgbClr val="E3E7EE"/>
                </a:solidFill>
                <a:latin typeface="Calibri"/>
              </a:rPr>
              <a:t>▸  This repository's own changes and findings: CHANGES_FROM_ORIGINAL.md, CHANGELOG.md, README.md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